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A7FF80-4C40-A942-9538-14E87B198006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AD233E-655F-E347-8DF5-8455382F32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9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Anchored by the Home Appliance Recycling Law and the Basic Act for Establishing a Sound Material-Cycle Society. Legal and financial accountability sits with both consumers and manufacturers, unlike systems that rely on informal scrappers.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Switzerland pioneered EPR globally through industry bodies such as SENS and SWICO, showing that proactive self-regulation can hit exceptional environmental targets without excessive state coercion.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Notified under the Environment (Protection) Act by MoEFCC, the 2022 Rules overhaul earlier legislation and widen the regulatory net to over 100 electrical and electronic equipment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Despite stringent rules, India's EPR regime often suffers from "paper compliance": producers buy recycling certificates through PROs without verifying that equivalent volumes were actually recycled.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India's IT hub generates huge volumes of IT scrap, corporate server hardware and consumer electronics, with dense formal dismantling units alongside a sprawling informal scrap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43D36"/>
          </a:solidFill>
          <a:ln w="12700">
            <a:solidFill>
              <a:srgbClr val="143D3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411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B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1 OF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77724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Japan Recycles More Than Most Countries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2743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C7D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policy &amp; operational benchmark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3931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5400" b="1" dirty="0">
                <a:solidFill>
                  <a:srgbClr val="2FB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365760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by the Home Appliance Recycling Law and the Basic Act for Establishing a Sound Material-Cycle Society. Legal and financial accountability sits with both consumers and manufacturers, unlike systems that rely on informal scrappers.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46304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MECHANISMS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810512"/>
            <a:ext cx="292608" cy="292608"/>
          </a:xfrm>
          <a:prstGeom prst="ellipse">
            <a:avLst/>
          </a:prstGeom>
          <a:solidFill>
            <a:srgbClr val="1E8A63"/>
          </a:solidFill>
          <a:ln w="12700">
            <a:solidFill>
              <a:srgbClr val="1E8A6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91840" y="1810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17830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segregation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4B5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must sort discards into rigid categories, preventing cross-contamination of hazardous materials.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2496312"/>
            <a:ext cx="292608" cy="292608"/>
          </a:xfrm>
          <a:prstGeom prst="ellipse">
            <a:avLst/>
          </a:prstGeom>
          <a:solidFill>
            <a:srgbClr val="1E8A63"/>
          </a:solidFill>
          <a:ln w="12700">
            <a:solidFill>
              <a:srgbClr val="1E8A6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91840" y="2496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749040" y="24688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collection logistics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4B5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Retailers and manufacturers must take back obsolete electronics, creating clear reverse-logistics chains.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182112"/>
            <a:ext cx="292608" cy="292608"/>
          </a:xfrm>
          <a:prstGeom prst="ellipse">
            <a:avLst/>
          </a:prstGeom>
          <a:solidFill>
            <a:srgbClr val="1E8A63"/>
          </a:solidFill>
          <a:ln w="12700">
            <a:solidFill>
              <a:srgbClr val="1E8A6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91840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749040" y="31546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urban mining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4B5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Hydrometallurgical and pyrometallurgical plants recover high-purity precious metals.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91840" y="393192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E9F5F0"/>
          </a:solidFill>
          <a:ln w="12700">
            <a:solidFill>
              <a:srgbClr val="E9F5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74720" y="3986784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E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FOR INDIA</a:t>
            </a:r>
            <a:endParaRPr lang="en-US" sz="10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source-level sorting, formal consumer channels and urban mining instead of informal burning and acid leaching.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43D36"/>
          </a:solidFill>
          <a:ln w="12700">
            <a:solidFill>
              <a:srgbClr val="143D3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411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B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2 OF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77724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Switzerland's E-Waste Success Story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2743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C7D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Producer Responsibility pioneer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3931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5400" b="1" dirty="0">
                <a:solidFill>
                  <a:srgbClr val="2FB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365760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Switzerland pioneered EPR globally through industry bodies such as SENS and SWICO, showing that proactive self-regulation can hit exceptional environmental targets without excessive state coercion.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46304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MECHANISMS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810512"/>
            <a:ext cx="292608" cy="292608"/>
          </a:xfrm>
          <a:prstGeom prst="ellipse">
            <a:avLst/>
          </a:prstGeom>
          <a:solidFill>
            <a:srgbClr val="1E8A63"/>
          </a:solidFill>
          <a:ln w="12700">
            <a:solidFill>
              <a:srgbClr val="1E8A6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91840" y="1810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17830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Recycling Fees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4B5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 is built into the retail price, so disposal carries no consumer friction.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2496312"/>
            <a:ext cx="292608" cy="292608"/>
          </a:xfrm>
          <a:prstGeom prst="ellipse">
            <a:avLst/>
          </a:prstGeom>
          <a:solidFill>
            <a:srgbClr val="1E8A63"/>
          </a:solidFill>
          <a:ln w="12700">
            <a:solidFill>
              <a:srgbClr val="1E8A6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91840" y="2496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749040" y="24688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return systems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4B5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return rights; retailers and municipalities must accept old electronics free of charge.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182112"/>
            <a:ext cx="292608" cy="292608"/>
          </a:xfrm>
          <a:prstGeom prst="ellipse">
            <a:avLst/>
          </a:prstGeom>
          <a:solidFill>
            <a:srgbClr val="1E8A63"/>
          </a:solidFill>
          <a:ln w="12700">
            <a:solidFill>
              <a:srgbClr val="1E8A6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91840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749040" y="31546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recovery yields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4B5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sorting and processing deliver collection rates above 75% by weight.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91840" y="393192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E9F5F0"/>
          </a:solidFill>
          <a:ln w="12700">
            <a:solidFill>
              <a:srgbClr val="E9F5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74720" y="3986784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E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0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Upfront financing guarantees revenue for certified recyclers and removes the incentive for illegal dumping.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43D36"/>
          </a:solidFill>
          <a:ln w="12700">
            <a:solidFill>
              <a:srgbClr val="143D3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411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B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3 OF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77724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India's E-Waste Management Rules 2022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2743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C7D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policy framework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3931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5400" b="1" dirty="0">
                <a:solidFill>
                  <a:srgbClr val="2FB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365760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Notified under the Environment (Protection) Act by MoEFCC, the 2022 Rules overhaul earlier legislation and widen the regulatory net to over 100 electrical and electronic equipment items.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46304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MECHANISMS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810512"/>
            <a:ext cx="292608" cy="292608"/>
          </a:xfrm>
          <a:prstGeom prst="ellipse">
            <a:avLst/>
          </a:prstGeom>
          <a:solidFill>
            <a:srgbClr val="1E8A63"/>
          </a:solidFill>
          <a:ln w="12700">
            <a:solidFill>
              <a:srgbClr val="1E8A6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91840" y="1810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17830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Graduated collection targets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4B5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 targets scale progressively, up to 80% of generated waste.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2496312"/>
            <a:ext cx="292608" cy="292608"/>
          </a:xfrm>
          <a:prstGeom prst="ellipse">
            <a:avLst/>
          </a:prstGeom>
          <a:solidFill>
            <a:srgbClr val="1E8A63"/>
          </a:solidFill>
          <a:ln w="12700">
            <a:solidFill>
              <a:srgbClr val="1E8A6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91840" y="2496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749040" y="24688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compensation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4B5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Producers missing annual quotas pay penalties based on shortfall volume and toxicity.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182112"/>
            <a:ext cx="292608" cy="292608"/>
          </a:xfrm>
          <a:prstGeom prst="ellipse">
            <a:avLst/>
          </a:prstGeom>
          <a:solidFill>
            <a:srgbClr val="1E8A63"/>
          </a:solidFill>
          <a:ln w="12700">
            <a:solidFill>
              <a:srgbClr val="1E8A6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91840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749040" y="31546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digital portal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4B5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CPCB-hosted system for registration and certificate verification.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91840" y="393192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E9F5F0"/>
          </a:solidFill>
          <a:ln w="12700">
            <a:solidFill>
              <a:srgbClr val="E9F5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74720" y="3986784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E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10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aim for transparency and accountability, but success hinges on rigorous field-level auditing and enforcement.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43D36"/>
          </a:solidFill>
          <a:ln w="12700">
            <a:solidFill>
              <a:srgbClr val="143D3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411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B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4 OF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77724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India's EPR: Success or Paper Compliance?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2743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C7D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critique &amp; audit analysis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3931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5400" b="1" dirty="0">
                <a:solidFill>
                  <a:srgbClr val="2FB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365760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stringent rules, India's EPR regime often suffers from "paper compliance": producers buy recycling certificates through PROs without verifying that equivalent volumes were actually recycled.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46304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MECHANISMS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810512"/>
            <a:ext cx="292608" cy="292608"/>
          </a:xfrm>
          <a:prstGeom prst="ellipse">
            <a:avLst/>
          </a:prstGeom>
          <a:solidFill>
            <a:srgbClr val="1E8A63"/>
          </a:solidFill>
          <a:ln w="12700">
            <a:solidFill>
              <a:srgbClr val="1E8A6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91840" y="1810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17830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arbitrage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4B5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Recycling credits are traded without physical movement or processing of hazardous e-waste.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2496312"/>
            <a:ext cx="292608" cy="292608"/>
          </a:xfrm>
          <a:prstGeom prst="ellipse">
            <a:avLst/>
          </a:prstGeom>
          <a:solidFill>
            <a:srgbClr val="1E8A63"/>
          </a:solidFill>
          <a:ln w="12700">
            <a:solidFill>
              <a:srgbClr val="1E8A6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91840" y="2496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749040" y="24688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deficits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4B5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granular verification across decentralized collection and dismantling networks.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182112"/>
            <a:ext cx="292608" cy="292608"/>
          </a:xfrm>
          <a:prstGeom prst="ellipse">
            <a:avLst/>
          </a:prstGeom>
          <a:solidFill>
            <a:srgbClr val="1E8A63"/>
          </a:solidFill>
          <a:ln w="12700">
            <a:solidFill>
              <a:srgbClr val="1E8A6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91840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749040" y="31546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sector leakage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4B5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recyclers often source from informal aggregators using crude extraction.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91840" y="393192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E9F5F0"/>
          </a:solidFill>
          <a:ln w="12700">
            <a:solidFill>
              <a:srgbClr val="E9F5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74720" y="3986784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E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PATHWAY</a:t>
            </a:r>
            <a:endParaRPr lang="en-US" sz="10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Blockchain-enabled traceability and IoT auditing can link regulatory filings to real on-ground recovery.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43D36"/>
          </a:solidFill>
          <a:ln w="12700">
            <a:solidFill>
              <a:srgbClr val="143D3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411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B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5 OF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77724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Bengaluru: India's E-Waste Capital?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2743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C7D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Metropolitan ecosystem analysis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3931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5400" b="1" dirty="0">
                <a:solidFill>
                  <a:srgbClr val="2FB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365760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IT hub generates huge volumes of IT scrap, corporate server hardware and consumer electronics, with dense formal dismantling units alongside a sprawling informal scrap network.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46304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MECHANISMS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810512"/>
            <a:ext cx="292608" cy="292608"/>
          </a:xfrm>
          <a:prstGeom prst="ellipse">
            <a:avLst/>
          </a:prstGeom>
          <a:solidFill>
            <a:srgbClr val="1E8A63"/>
          </a:solidFill>
          <a:ln w="12700">
            <a:solidFill>
              <a:srgbClr val="1E8A6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91840" y="1810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17830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asset disposals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4B5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liquidators used by tech multinationals leak IT assets into informal markets.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2496312"/>
            <a:ext cx="292608" cy="292608"/>
          </a:xfrm>
          <a:prstGeom prst="ellipse">
            <a:avLst/>
          </a:prstGeom>
          <a:solidFill>
            <a:srgbClr val="1E8A63"/>
          </a:solidFill>
          <a:ln w="12700">
            <a:solidFill>
              <a:srgbClr val="1E8A6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91840" y="2496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749040" y="24688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leakage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4B5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yards in peripheral industrial zones bypass emission and effluent safeguards.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182112"/>
            <a:ext cx="292608" cy="292608"/>
          </a:xfrm>
          <a:prstGeom prst="ellipse">
            <a:avLst/>
          </a:prstGeom>
          <a:solidFill>
            <a:srgbClr val="1E8A63"/>
          </a:solidFill>
          <a:ln w="12700">
            <a:solidFill>
              <a:srgbClr val="1E8A6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91840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749040" y="31546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integration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4B5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align solid-waste authorities with authorized e-waste collection.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91840" y="393192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E9F5F0"/>
          </a:solidFill>
          <a:ln w="12700">
            <a:solidFill>
              <a:srgbClr val="E9F5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74720" y="3986784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E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IMPERATIVE</a:t>
            </a:r>
            <a:endParaRPr lang="en-US" sz="1000" dirty="0"/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public-private framework should link corporate sustainability goals with certified dismantling infrastructure.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7A232B3FA31C48ADAF29702DE3C893" ma:contentTypeVersion="12" ma:contentTypeDescription="Create a new document." ma:contentTypeScope="" ma:versionID="9733aeacb51a31fd2347aff2540d3a50">
  <xsd:schema xmlns:xsd="http://www.w3.org/2001/XMLSchema" xmlns:xs="http://www.w3.org/2001/XMLSchema" xmlns:p="http://schemas.microsoft.com/office/2006/metadata/properties" xmlns:ns2="dd5b6b3d-3d39-4526-b8e4-79d21e1438f0" xmlns:ns3="44678d20-5b6e-4792-b133-ca784477d689" targetNamespace="http://schemas.microsoft.com/office/2006/metadata/properties" ma:root="true" ma:fieldsID="37926f2f1ae8b3f68e3dbd3dffff8aa9" ns2:_="" ns3:_="">
    <xsd:import namespace="dd5b6b3d-3d39-4526-b8e4-79d21e1438f0"/>
    <xsd:import namespace="44678d20-5b6e-4792-b133-ca784477d689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b6b3d-3d39-4526-b8e4-79d21e1438f0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65c09e8c-4242-4efc-8aa0-958213fa9c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678d20-5b6e-4792-b133-ca784477d68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ae8ad495-3829-482e-ad1b-cf0f2662c940}" ma:internalName="TaxCatchAll" ma:showField="CatchAllData" ma:web="44678d20-5b6e-4792-b133-ca784477d68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d5b6b3d-3d39-4526-b8e4-79d21e1438f0">
      <Terms xmlns="http://schemas.microsoft.com/office/infopath/2007/PartnerControls"/>
    </lcf76f155ced4ddcb4097134ff3c332f>
    <TaxCatchAll xmlns="44678d20-5b6e-4792-b133-ca784477d689" xsi:nil="true"/>
    <ReferenceId xmlns="dd5b6b3d-3d39-4526-b8e4-79d21e1438f0" xsi:nil="true"/>
  </documentManagement>
</p:properties>
</file>

<file path=customXml/itemProps1.xml><?xml version="1.0" encoding="utf-8"?>
<ds:datastoreItem xmlns:ds="http://schemas.openxmlformats.org/officeDocument/2006/customXml" ds:itemID="{5927F151-6DD4-443A-9EE3-AA48B30253CB}"/>
</file>

<file path=customXml/itemProps2.xml><?xml version="1.0" encoding="utf-8"?>
<ds:datastoreItem xmlns:ds="http://schemas.openxmlformats.org/officeDocument/2006/customXml" ds:itemID="{07CA8019-2F95-4AF9-9A17-2497FE6B2520}"/>
</file>

<file path=customXml/itemProps3.xml><?xml version="1.0" encoding="utf-8"?>
<ds:datastoreItem xmlns:ds="http://schemas.openxmlformats.org/officeDocument/2006/customXml" ds:itemID="{66C88E1B-0ACB-4F3E-BB81-53E24D99561F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Dhiraj Pawar</cp:lastModifiedBy>
  <cp:revision>2</cp:revision>
  <dcterms:created xsi:type="dcterms:W3CDTF">2026-09-29T08:00:06Z</dcterms:created>
  <dcterms:modified xsi:type="dcterms:W3CDTF">2026-09-29T08:00:47Z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0x010100B17A232B3FA31C48ADAF29702DE3C893</vt:lpwstr>
  </property>
</Properties>
</file>