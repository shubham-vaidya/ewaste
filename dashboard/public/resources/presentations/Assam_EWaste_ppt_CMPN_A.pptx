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5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52" y="-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Awareness &amp; Outreach</c:v>
                </c:pt>
                <c:pt idx="1">
                  <c:v>Environmental &amp; Health</c:v>
                </c:pt>
                <c:pt idx="2">
                  <c:v>Informal Sector</c:v>
                </c:pt>
                <c:pt idx="3">
                  <c:v>Regulatory Compliance</c:v>
                </c:pt>
                <c:pt idx="4">
                  <c:v>Formal Recycling</c:v>
                </c:pt>
                <c:pt idx="5">
                  <c:v>Collection Performance</c:v>
                </c:pt>
                <c:pt idx="6">
                  <c:v>Generation &amp; Inventory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F-491D-B0B8-ECD85BF2058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4F7F8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F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72-478C-88EB-5BCAF5936B09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72-478C-88EB-5BCAF5936B09}"/>
              </c:ext>
            </c:extLst>
          </c:dPt>
          <c:dPt>
            <c:idx val="2"/>
            <c:bubble3D val="0"/>
            <c:spPr>
              <a:solidFill>
                <a:srgbClr val="3FA7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72-478C-88EB-5BCAF5936B09}"/>
              </c:ext>
            </c:extLst>
          </c:dPt>
          <c:dPt>
            <c:idx val="3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72-478C-88EB-5BCAF5936B09}"/>
              </c:ext>
            </c:extLst>
          </c:dPt>
          <c:dPt>
            <c:idx val="4"/>
            <c:bubble3D val="0"/>
            <c:spPr>
              <a:solidFill>
                <a:srgbClr val="9BB6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72-478C-88EB-5BCAF5936B09}"/>
              </c:ext>
            </c:extLst>
          </c:dPt>
          <c:dPt>
            <c:idx val="5"/>
            <c:bubble3D val="0"/>
            <c:spPr>
              <a:solidFill>
                <a:srgbClr val="E4E9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72-478C-88EB-5BCAF5936B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72-478C-88EB-5BCAF5936B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72-478C-88EB-5BCAF5936B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72-478C-88EB-5BCAF5936B0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72-478C-88EB-5BCAF5936B0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72-478C-88EB-5BCAF5936B09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C72-478C-88EB-5BCAF5936B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IT &amp; Telecom</c:v>
                </c:pt>
                <c:pt idx="1">
                  <c:v>Consumer Electrical</c:v>
                </c:pt>
                <c:pt idx="2">
                  <c:v>Large &amp; Small Equip.</c:v>
                </c:pt>
                <c:pt idx="3">
                  <c:v>Batteries</c:v>
                </c:pt>
                <c:pt idx="4">
                  <c:v>Lighting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27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72-478C-88EB-5BCAF5936B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Tonnes</c:v>
                </c:pt>
              </c:strCache>
            </c:strRef>
          </c:tx>
          <c:spPr>
            <a:solidFill>
              <a:srgbClr val="3FA7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Tinsukia</c:v>
                </c:pt>
                <c:pt idx="1">
                  <c:v>Dhubri</c:v>
                </c:pt>
                <c:pt idx="2">
                  <c:v>Barpeta</c:v>
                </c:pt>
                <c:pt idx="3">
                  <c:v>Kamrup</c:v>
                </c:pt>
                <c:pt idx="4">
                  <c:v>Cachar</c:v>
                </c:pt>
                <c:pt idx="5">
                  <c:v>Nagaon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1288</c:v>
                </c:pt>
                <c:pt idx="1">
                  <c:v>1352</c:v>
                </c:pt>
                <c:pt idx="2">
                  <c:v>1397</c:v>
                </c:pt>
                <c:pt idx="3">
                  <c:v>1472</c:v>
                </c:pt>
                <c:pt idx="4">
                  <c:v>1685</c:v>
                </c:pt>
                <c:pt idx="5">
                  <c:v>1836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7-4BBA-8BF2-BB05197581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Tonnes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B4F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69-4C37-A31F-E4793BE174B1}"/>
              </c:ext>
            </c:extLst>
          </c:dPt>
          <c:dPt>
            <c:idx val="1"/>
            <c:invertIfNegative val="0"/>
            <c:bubble3D val="0"/>
            <c:spPr>
              <a:solidFill>
                <a:srgbClr val="3FA7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69-4C37-A31F-E4793BE174B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Estimated Generated</c:v>
                </c:pt>
                <c:pt idx="1">
                  <c:v>Estimated Collected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30866</c:v>
                </c:pt>
                <c:pt idx="1">
                  <c:v>21825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69-4C37-A31F-E4793BE174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Tonnes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1B-4870-8432-711AEFCE4CA1}"/>
              </c:ext>
            </c:extLst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1B-4870-8432-711AEFCE4CA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Illustrative EPR Target (75%)</c:v>
                </c:pt>
                <c:pt idx="1">
                  <c:v>Illustrative EPR Achievement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23149</c:v>
                </c:pt>
                <c:pt idx="1">
                  <c:v>21825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1B-4870-8432-711AEFCE4C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Tonnes</c:v>
                </c:pt>
              </c:strCache>
            </c:strRef>
          </c:tx>
          <c:spPr>
            <a:solidFill>
              <a:srgbClr val="C1440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9A-4729-ACF6-7C12F313EB8A}"/>
              </c:ext>
            </c:extLst>
          </c:dPt>
          <c:dPt>
            <c:idx val="1"/>
            <c:invertIfNegative val="0"/>
            <c:bubble3D val="0"/>
            <c:spPr>
              <a:solidFill>
                <a:srgbClr val="0B4F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9A-4729-ACF6-7C12F313EB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Authorized Recycling Capacity</c:v>
                </c:pt>
                <c:pt idx="1">
                  <c:v>Estimated State Generation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30866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9A-4729-ACF6-7C12F313EB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E4E9E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Awareness &amp; Outreach</c:v>
                </c:pt>
                <c:pt idx="1">
                  <c:v>Environmental &amp; Health*</c:v>
                </c:pt>
                <c:pt idx="2">
                  <c:v>Informal Sector</c:v>
                </c:pt>
                <c:pt idx="3">
                  <c:v>Regulatory Compliance*</c:v>
                </c:pt>
                <c:pt idx="4">
                  <c:v>Formal Recycling</c:v>
                </c:pt>
                <c:pt idx="5">
                  <c:v>Collection Performance</c:v>
                </c:pt>
                <c:pt idx="6">
                  <c:v>Generation &amp; Inventory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20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8-4F99-9F56-CD25F9B41D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Earned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Awareness &amp; Outreach</c:v>
                </c:pt>
                <c:pt idx="1">
                  <c:v>Environmental &amp; Health*</c:v>
                </c:pt>
                <c:pt idx="2">
                  <c:v>Informal Sector</c:v>
                </c:pt>
                <c:pt idx="3">
                  <c:v>Regulatory Compliance*</c:v>
                </c:pt>
                <c:pt idx="4">
                  <c:v>Formal Recycling</c:v>
                </c:pt>
                <c:pt idx="5">
                  <c:v>Collection Performance</c:v>
                </c:pt>
                <c:pt idx="6">
                  <c:v>Generation &amp; Inventory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0</c:v>
                </c:pt>
                <c:pt idx="3">
                  <c:v>15</c:v>
                </c:pt>
                <c:pt idx="4">
                  <c:v>0.1</c:v>
                </c:pt>
                <c:pt idx="5">
                  <c:v>15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E8-4F99-9F56-CD25F9B41D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B2B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15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26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3FA79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E-WASTE INTELLIGENCE · ASSAM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Assam E-Waste Management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Dashboard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generation, collection, recycling, compliance and environmental safeguards across 35 districts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updated 20 July 2026   ·   Framework: E-Waste (Management) Rules, 2022 / CPCB-aligned 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E375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171123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30,865.98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05840" y="5715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/ year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generation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E375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5166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34840" y="5715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50749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E3752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51663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 / 100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63840" y="57150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scorecard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(needs improvement)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E-Waste Challenge in Assam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fast-growing waste stream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0025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&amp; computers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20574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50792" y="20025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Televisions &amp; consumer electronics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9169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appliances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9718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50792" y="29169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equipment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831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3886200"/>
            <a:ext cx="310896" cy="31089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50792" y="3831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telecom equipment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5623560" cy="868680"/>
          </a:xfrm>
          <a:prstGeom prst="roundRect">
            <a:avLst>
              <a:gd name="adj" fmla="val 7368"/>
            </a:avLst>
          </a:prstGeom>
          <a:solidFill>
            <a:srgbClr val="F4F7F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6636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categories </a:t>
            </a: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directly to the dashboard's Generation &amp; Inventory component (15 of 100 scorecard points) and to the category-composition breakdown on the next data slides.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03720" y="160020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0E3752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810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2103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availability of verified, district-level Assam-specific e-waste data.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23760" y="3063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 combines available information with clearly labelled planning-level estimates — designed to later be replaced with actual SPCB Assam / CPCB / EPR portal data.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MUST ANSWER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44348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location &amp; collection volumes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recycling capacity &amp; EPR compliance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Informal-sector activity &amp; environmental safeguards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Reliability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Monitoring Components (weight out of 100)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6309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040880" y="1965960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8" name="Shape 5"/>
          <p:cNvSpPr/>
          <p:nvPr/>
        </p:nvSpPr>
        <p:spPr>
          <a:xfrm>
            <a:off x="7178040" y="2157984"/>
            <a:ext cx="292608" cy="292608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2020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589520" y="22951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identified sources / official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040880" y="2807208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12" name="Shape 9"/>
          <p:cNvSpPr/>
          <p:nvPr/>
        </p:nvSpPr>
        <p:spPr>
          <a:xfrm>
            <a:off x="7178040" y="2999232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2862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89520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or national-benchmark calculations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040880" y="3648456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16" name="Shape 13"/>
          <p:cNvSpPr/>
          <p:nvPr/>
        </p:nvSpPr>
        <p:spPr>
          <a:xfrm>
            <a:off x="7178040" y="3840480"/>
            <a:ext cx="292608" cy="292608"/>
          </a:xfrm>
          <a:prstGeom prst="ellipse">
            <a:avLst/>
          </a:prstGeom>
          <a:solidFill>
            <a:srgbClr val="6B7C85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58952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public value found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40880" y="4489704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20" name="Shape 17"/>
          <p:cNvSpPr/>
          <p:nvPr/>
        </p:nvSpPr>
        <p:spPr>
          <a:xfrm>
            <a:off x="7178040" y="468172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4544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Verification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589520" y="4818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sourced from SPCB / CPCB / EPR records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040880" y="5330952"/>
            <a:ext cx="461772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/>
        </p:spPr>
      </p:sp>
      <p:sp>
        <p:nvSpPr>
          <p:cNvPr id="24" name="Shape 21"/>
          <p:cNvSpPr/>
          <p:nvPr/>
        </p:nvSpPr>
        <p:spPr>
          <a:xfrm>
            <a:off x="7178040" y="5522976"/>
            <a:ext cx="292608" cy="29260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25" name="Text 22"/>
          <p:cNvSpPr/>
          <p:nvPr/>
        </p:nvSpPr>
        <p:spPr>
          <a:xfrm>
            <a:off x="7589520" y="5385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/ Example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589520" y="5660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rows only — excluded from analytics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the dashboard prioritizes data transparency over presenting incomplete information as fact.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District-Level E-Waste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30,865.98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 / year — estimated state generation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0.97 kg/person/year (CPCB FY2024-25 national rate × district population). Planning estimate, not measured quantity.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Composition (illustrative)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023360" y="1828800"/>
          <a:ext cx="3749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0010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Estimated-Generating Districts (tonnes/yr)</a:t>
            </a:r>
            <a:endParaRPr lang="en-US" sz="12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7818120" y="1828800"/>
          <a:ext cx="3840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tracks closely with population — a guide for targeting collection infrastructure, recycling and EPR/awareness efforts.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Performance &amp; Infrastructure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vs. Collected (tonnes/yr)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5349240" cy="777240"/>
          </a:xfrm>
          <a:prstGeom prst="roundRect">
            <a:avLst>
              <a:gd name="adj" fmla="val 8235"/>
            </a:avLst>
          </a:prstGeom>
          <a:solidFill>
            <a:srgbClr val="FBF1D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892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≈70.71% </a:t>
            </a: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planning-level collection rate — applied from a national FY2024-25 benchmark, not an Assam-measured figure.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508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Target vs. Illustrative Achievement (tonnes/yr)</a:t>
            </a:r>
            <a:endParaRPr lang="en-US" sz="12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263640" y="1874520"/>
          <a:ext cx="54864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263640" y="480060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4F7F8"/>
          </a:solidFill>
          <a:ln/>
        </p:spPr>
      </p:sp>
      <p:sp>
        <p:nvSpPr>
          <p:cNvPr id="11" name="Shape 7"/>
          <p:cNvSpPr/>
          <p:nvPr/>
        </p:nvSpPr>
        <p:spPr>
          <a:xfrm>
            <a:off x="6446520" y="4974336"/>
            <a:ext cx="713232" cy="713232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8"/>
          <p:cNvSpPr/>
          <p:nvPr/>
        </p:nvSpPr>
        <p:spPr>
          <a:xfrm>
            <a:off x="6446520" y="49743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269480" y="4864608"/>
            <a:ext cx="4343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collection centres (1 per 500,000 population, min. 1/district). Actual inventory should come from SPCB Assam / authorized agencies.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Recycling Gap &amp; Compliance Blind Spot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Authorized Capacity vs. Estimated Generation (tonnes/yr)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920240"/>
          <a:ext cx="60350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37760"/>
            <a:ext cx="6035040" cy="868680"/>
          </a:xfrm>
          <a:prstGeom prst="roundRect">
            <a:avLst>
              <a:gd name="adj" fmla="val 7368"/>
            </a:avLst>
          </a:prstGeom>
          <a:solidFill>
            <a:srgbClr val="FDEAE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029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8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0.39% </a:t>
            </a: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estimated annual generation. Only facility: M/s United Global Trust, Kamrup Metropolitan — 120 tonnes/year installed capacity.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03720" y="1554480"/>
            <a:ext cx="4754880" cy="4251960"/>
          </a:xfrm>
          <a:prstGeom prst="roundRect">
            <a:avLst>
              <a:gd name="adj" fmla="val 1935"/>
            </a:avLst>
          </a:prstGeom>
          <a:solidFill>
            <a:srgbClr val="0E3752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EPR COMPLIANCE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78040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producer-level EPR compliance data is not publicly available.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17804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the CPCB EPR portal for Assam: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7804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registration status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inspection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and resolution status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78040" y="4251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B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row exists in the source workbook as a data-entry template — it is not a real producer record and is excluded from scoring.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&amp; ENVIRONMENT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 Sector &amp; Environmental Monitoring Gaps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HOTSPOT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Guwahati scrap-dealer &amp; waste-picker network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Kamrup Metropolitan — incl. Fancy Bazar. Not formalized. 0 registered/trained workers recorded.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274320" cy="2743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enumeration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3154680"/>
            <a:ext cx="274320" cy="2743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31089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PPE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776472"/>
            <a:ext cx="274320" cy="2743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61288" y="3730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safety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3776472"/>
            <a:ext cx="274320" cy="2743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3048" y="37307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recyclers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0020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FDEA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&amp; HEALTH MONITORING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verified Assam-specific monitoring records found.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4652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Soil, water, air and e-waste-specific health-camp data are absent from the dataset; one EXAMPLE row is a template only.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15468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B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handling risks: heavy metals, hazardous chemicals, soil &amp; water contamination for workers and nearby communities.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54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&amp; COLLECTION PROGRAMS — 2 recorded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Environment Day drives (5 Jun 2026): Binbag × Numaligarh Refinery Ltd. — Golaghat township  ·  Binbag × Dream India Network — Natun Fatasil Town High School, Guwahati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Binbag collected 5+ tonnes across Assam in ~7 days around the campaign — participant headcounts remain unavailable.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SCORECARD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E-Waste Scorecard: 56.1 / 100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Earned vs. Category Weight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011680"/>
          <a:ext cx="67665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*Compliance &amp; Environmental scores currently reflect the workbook's example/template rows — treat as unverified data gaps, not confirmed full compliance.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4380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43800" y="201168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195681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recycling capacity is the single biggest structural gap (0.39% of generation).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2944368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955280" y="288950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environmental monitoring data are largely unverified, not confirmed absent risk.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43800" y="3877056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754380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55280" y="3822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is active but entirely unformalized.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43800" y="4809744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6"/>
          <p:cNvSpPr/>
          <p:nvPr/>
        </p:nvSpPr>
        <p:spPr>
          <a:xfrm>
            <a:off x="7543800" y="4809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955280" y="4754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activity exists but is thinly documented — only 2 programs on record.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Improvements &amp; Priority Actions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planning estimates with verified district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verified collection-centre registry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CPCB/SPCB recycler authorization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Assam EPR entity database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informal-worker enumeration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systematic environmental monitoring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5166360"/>
            <a:ext cx="5120640" cy="777240"/>
          </a:xfrm>
          <a:prstGeom prst="roundRect">
            <a:avLst>
              <a:gd name="adj" fmla="val 8235"/>
            </a:avLst>
          </a:prstGeom>
          <a:solidFill>
            <a:srgbClr val="F4F7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257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  </a:t>
            </a:r>
            <a:r>
              <a:rPr lang="en-US" sz="10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 database: SPCB Assam → Districts → Producers → Collection Centres → Recyclers → Informal Sector →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AREAS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01952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84848" y="183794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Recycling Capacity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84848" y="2121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authorized recycling/dismantling capacity statewide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4848" y="24963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Infrastructure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84848" y="277977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verified centres in high-generation districts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218688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31546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 Monitoring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84848" y="343814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producer-level registration &amp; compliance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877056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84848" y="38130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Sector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84848" y="409651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train waste pickers &amp; scrap dealers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535424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447141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84848" y="47548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regular soil, water and air monitoring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5193792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5129784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84848" y="541324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school, institutional and corporate collection drives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263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Intelligence to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0E375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58568" y="17830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32888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0E3752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05656" y="17830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79976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0E3752"/>
          </a:solidFill>
          <a:ln/>
        </p:spPr>
      </p:sp>
      <p:sp>
        <p:nvSpPr>
          <p:cNvPr id="13" name="Text 11"/>
          <p:cNvSpPr/>
          <p:nvPr/>
        </p:nvSpPr>
        <p:spPr>
          <a:xfrm>
            <a:off x="4379976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52744" y="17830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27064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0E3752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99832" y="17830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74152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0E3752"/>
          </a:solidFill>
          <a:ln/>
        </p:spPr>
      </p:sp>
      <p:sp>
        <p:nvSpPr>
          <p:cNvPr id="19" name="Text 17"/>
          <p:cNvSpPr/>
          <p:nvPr/>
        </p:nvSpPr>
        <p:spPr>
          <a:xfrm>
            <a:off x="8074152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46920" y="178308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921240" y="1783080"/>
            <a:ext cx="1572768" cy="1051560"/>
          </a:xfrm>
          <a:prstGeom prst="roundRect">
            <a:avLst>
              <a:gd name="adj" fmla="val 6087"/>
            </a:avLst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1783080"/>
            <a:ext cx="15727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Assam E-Waste Intelligence Dashboard can convert fragmented environmental data into actionable decisions for collection, recycling, compliance, informal-sector formalization and environmental protection.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772400" y="32461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0E3752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32461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30,865.98 t   </a:t>
            </a:r>
            <a:r>
              <a:rPr lang="en-US" sz="11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generation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0" y="402336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0E3752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40233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21,825.33 t   </a:t>
            </a:r>
            <a:r>
              <a:rPr lang="en-US" sz="11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collection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0" y="480060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0E3752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4800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   </a:t>
            </a:r>
            <a:r>
              <a:rPr lang="en-US" sz="11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capacity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772400" y="557784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0E3752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55778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/ 100   </a:t>
            </a:r>
            <a:r>
              <a:rPr lang="en-US" sz="11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score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E-Waste Management Intelligence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611F77D9-F42A-4C92-88AB-9ED181814853}"/>
</file>

<file path=customXml/itemProps2.xml><?xml version="1.0" encoding="utf-8"?>
<ds:datastoreItem xmlns:ds="http://schemas.openxmlformats.org/officeDocument/2006/customXml" ds:itemID="{532189E2-0160-44B3-B9ED-938B94288378}"/>
</file>

<file path=customXml/itemProps3.xml><?xml version="1.0" encoding="utf-8"?>
<ds:datastoreItem xmlns:ds="http://schemas.openxmlformats.org/officeDocument/2006/customXml" ds:itemID="{6F6B7C4A-CD40-4567-8857-017562B39F84}"/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1043</Words>
  <Application>Microsoft Office PowerPoint</Application>
  <PresentationFormat>Widescreen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Vaidya</cp:lastModifiedBy>
  <cp:revision>2</cp:revision>
  <dcterms:created xsi:type="dcterms:W3CDTF">2026-08-10T08:44:58Z</dcterms:created>
  <dcterms:modified xsi:type="dcterms:W3CDTF">2026-08-10T09:50:51Z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