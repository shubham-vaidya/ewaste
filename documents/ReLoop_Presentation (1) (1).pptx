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12"/>
    <p:sldId id="262" r:id="rId13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reloop/icon_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321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7132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Life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Electronics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58368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turns every discarded phone, laptop, or gadget into a digital asset — with a real, recoverable value.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166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“ReLoop gives every discarded electronic device a second chance — </a:t>
            </a:r>
            <a:pPr indent="0" marL="0">
              <a:lnSpc>
                <a:spcPts val="2400"/>
              </a:lnSpc>
              <a:buNone/>
            </a:pPr>
            <a:r>
              <a:rPr lang="en-US" sz="17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gives its owner a reason not to throw it away.”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6172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50" kern="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  →   Identify   →   Value   →   Pickup   →   Second Life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21792" cy="621792"/>
          </a:xfrm>
          <a:prstGeom prst="ellipse">
            <a:avLst/>
          </a:prstGeom>
          <a:solidFill>
            <a:srgbClr val="023436"/>
          </a:solidFill>
          <a:ln/>
        </p:spPr>
      </p:sp>
      <p:pic>
        <p:nvPicPr>
          <p:cNvPr id="3" name="Image 0" descr="/home/claude/reloop/icon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35608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device is not worthless — but nobody treats it that way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366760" y="45720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023436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0" y="658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phones, laptops &amp; appliances go unused every year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0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drawers • Thrown in regular garbage • Sold through unreliable channels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reloop/ic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035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value, unseen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33649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contain reusable parts and valuable metals, but owners have no simple way to discover what they're actually worth.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788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reloop/icon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1596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1513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channel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4480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reliable way to find a verified buyer or recycler — most devices end up with unregulated middlemen.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52943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reloop/icon_r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3153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52669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after handover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417320" y="55961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device leaves the home, owners can't track whether it was reused, refurbished, or safely recycled.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ReLoop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gets a Second-Life Score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reloop/icon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0662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472184" y="2263140"/>
            <a:ext cx="1234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761488" y="18745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reloop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039112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95728" y="270662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593592" y="2263140"/>
            <a:ext cx="1234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4882896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reloop/icon_rup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0391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17136" y="270662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Value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715000" y="2263140"/>
            <a:ext cx="1234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7004304" y="18745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/home/claude/reloop/icon_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2039112"/>
            <a:ext cx="448056" cy="4480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38544" y="270662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836408" y="2263140"/>
            <a:ext cx="1234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9125712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/home/claude/reloop/icon_recy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2039112"/>
            <a:ext cx="448056" cy="4480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59952" y="270662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/ Recycled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40080" y="342900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CE8"/>
            </a:solidFill>
            <a:prstDash val="solid"/>
          </a:ln>
          <a:effectLst>
            <a:outerShdw sx="100000" sy="100000" kx="0" ky="0" algn="bl" rotWithShape="0" blurRad="101600" dist="38100" dir="5400000">
              <a:srgbClr val="0B2B2C">
                <a:alpha val="12000"/>
              </a:srgbClr>
            </a:outerShdw>
          </a:effectLst>
        </p:spPr>
      </p:sp>
      <p:pic>
        <p:nvPicPr>
          <p:cNvPr id="24" name="Image 5" descr="/home/claude/reloop/icon_lap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639312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3611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old laptop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86868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value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3566160" y="4160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₹4,500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68680" y="4645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potential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566160" y="464515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68680" y="5129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material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3566160" y="512978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68680" y="56144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66160" y="56144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kg e-waste diverted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989320" y="3429000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023436"/>
          </a:solidFill>
          <a:ln/>
        </p:spPr>
      </p:sp>
      <p:sp>
        <p:nvSpPr>
          <p:cNvPr id="35" name="Text 27"/>
          <p:cNvSpPr/>
          <p:nvPr/>
        </p:nvSpPr>
        <p:spPr>
          <a:xfrm>
            <a:off x="626364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the Best Path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263640" y="4215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29"/>
          <p:cNvSpPr/>
          <p:nvPr/>
        </p:nvSpPr>
        <p:spPr>
          <a:xfrm>
            <a:off x="6492240" y="4087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8412480" y="40873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works well — list it for reuse as-is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263640" y="47640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2"/>
          <p:cNvSpPr/>
          <p:nvPr/>
        </p:nvSpPr>
        <p:spPr>
          <a:xfrm>
            <a:off x="6492240" y="46360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412480" y="4636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repairs needed to restore full function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263640" y="531266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35"/>
          <p:cNvSpPr/>
          <p:nvPr/>
        </p:nvSpPr>
        <p:spPr>
          <a:xfrm>
            <a:off x="6492240" y="5184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Dismantle for parts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8412480" y="51846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components are still valuable individually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6263640" y="5861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Text 38"/>
          <p:cNvSpPr/>
          <p:nvPr/>
        </p:nvSpPr>
        <p:spPr>
          <a:xfrm>
            <a:off x="6492240" y="5733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8412480" y="57332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material recovery for end-of-life devices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monetisation layers across the device lifecycle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492240" cy="3108960"/>
        </p:xfrm>
        <a:graphic>
          <a:graphicData uri="http://schemas.openxmlformats.org/drawingml/2006/table">
            <a:tbl>
              <a:tblPr/>
              <a:tblGrid>
                <a:gridCol w="402336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from recyclers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– ₹300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Refurbished device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 – ₹10,000+ margin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e-waste contracts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 – ₹1L+ / month /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 / service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 – ₹100 /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business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 – ₹4,999 /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</p:sp>
      <p:pic>
        <p:nvPicPr>
          <p:cNvPr id="6" name="Image 0" descr="/home/claude/reloop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19872" y="1691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SCALE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635240" y="21214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7653528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processed / month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653528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₹150 avg. platform revenue / device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07808" y="3520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₹7.5 Lakh / month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3528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gross platform revenue — before corporate contracts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C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50292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/home/claude/reloop/icon_handus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166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50292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gamified, sustainability-driven loop: consumers earn money and rewards, while recyclers and refurbishers gain a reliable, verified source of e-waste.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multi-city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0A4744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reloop/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54480" y="22037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platform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246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listing &amp; image upload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device identification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valuation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4754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booking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5196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0A4744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07992" y="19476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/home/claude/reloop/icon_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8483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166360" y="22037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Platform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52628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condition detection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26280" y="3246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 marketplace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2628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2628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pickup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26280" y="4754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rewards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86384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0A4744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119872" y="1947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2" descr="/home/claude/reloop/icon_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08483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7824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4–12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778240" y="22037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13816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e-waste management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138160" y="3246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Refurbishment marketplace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13816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cities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13816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partnerships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8138160" y="4754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dashboard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40080" y="6126480"/>
            <a:ext cx="10927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ReLoop </a:t>
            </a:r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E4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gives every discarded electronic device a second chance — and gives its owner a reason not to throw it away.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operating costs are incurred across the device lifecycle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492240" cy="3108960"/>
        </p:xfrm>
        <a:graphic>
          <a:graphicData uri="http://schemas.openxmlformats.org/drawingml/2006/table">
            <a:tbl>
              <a:tblPr/>
              <a:tblGrid>
                <a:gridCol w="402336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buyback payouts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– ₹4,000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 &amp; logistics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 – ₹120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Refurbishment &amp; repair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 – ₹1,500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grading &amp; platform infra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 – ₹40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Team, support &amp; 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– ₹150 /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</p:sp>
      <p:pic>
        <p:nvPicPr>
          <p:cNvPr id="6" name="Image 0" descr="/home/claude/reloop/icon_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19872" y="1691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SCALE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635240" y="21214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7653528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processed / month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653528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₹110 avg. operating cost / device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07808" y="3520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 Lakh / month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3528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core operating cost — excluding device buyback payouts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C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50292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/home/claude/reloop/icon_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166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50292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payouts and logistics scale directly with device volume, while platform, AI, and support costs stay largely fixed — improving margins as ReLoop grows.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Fixed Operating Costs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14-person team plus fixed monthly overheads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640080" y="1508760"/>
          <a:ext cx="6492240" cy="3108960"/>
        </p:xfrm>
        <a:graphic>
          <a:graphicData uri="http://schemas.openxmlformats.org/drawingml/2006/table">
            <a:tbl>
              <a:tblPr/>
              <a:tblGrid>
                <a:gridCol w="3600000"/>
                <a:gridCol w="1000000"/>
                <a:gridCol w="1892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34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&amp; Tech (CEO, CTO, AI/ML, 2 Devs)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Finance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&amp; Pickup Coordinators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₹54,000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Support &amp; Refurb. Techs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0" dirty="0">
                          <a:solidFill>
                            <a:srgbClr val="0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F4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028090"/>
          </a:solidFill>
          <a:ln/>
        </p:spPr>
      </p:sp>
      <p:pic>
        <p:nvPicPr>
          <p:cNvPr id="6" name="Image 0" descr="/home/claude/reloop/icon_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19872" y="1691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SNAPSHOT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635240" y="21214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7653528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across the full team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653528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₹30,286 salary / employee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07808" y="3520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₹4.24 Lakh / month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3528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payroll at full 14-person headcount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10927080" cy="1200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C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52177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/home/claude/reloop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3548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892040"/>
            <a:ext cx="9784080" cy="1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payroll, ReLoop carries office &amp; utilities (₹40K/mo), a logistics fleet &amp; fuel (₹60K/mo), cloud/AI infrastructure (₹25K/mo), marketing (₹50K/mo) and insurance/compliance (₹15K/mo) — bringing total fixed opex to ≈ ₹6.14 Lakh/month, on top of the per-device variable costs shown on the previous slide.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76F09217-2F20-47DE-B288-7DE9B6178020}"/>
</file>

<file path=customXml/itemProps2.xml><?xml version="1.0" encoding="utf-8"?>
<ds:datastoreItem xmlns:ds="http://schemas.openxmlformats.org/officeDocument/2006/customXml" ds:itemID="{1497FB8A-92BC-46BC-AB22-33FBB23F4717}"/>
</file>

<file path=customXml/itemProps3.xml><?xml version="1.0" encoding="utf-8"?>
<ds:datastoreItem xmlns:ds="http://schemas.openxmlformats.org/officeDocument/2006/customXml" ds:itemID="{B3444444-F487-4E67-B196-5EEB1E3302C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2026-08-24T09:03:19Z</dcterms:created>
  <dcterms:modified xsi:type="dcterms:W3CDTF">2026-08-24T09:03:19Z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